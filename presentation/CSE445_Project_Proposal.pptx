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6" r:id="rId3"/>
    <p:sldId id="269" r:id="rId4"/>
    <p:sldId id="270" r:id="rId5"/>
    <p:sldId id="271" r:id="rId6"/>
    <p:sldId id="274" r:id="rId7"/>
    <p:sldId id="272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0000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490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683779-A05D-4E2B-91E1-F2CDB9DFEBD2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8FF46-6160-484F-8C2D-8DE5380859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06553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30411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rashnic/hr-analytics-job-change-of-data-scientists" TargetMode="External"/><Relationship Id="rId2" Type="http://schemas.openxmlformats.org/officeDocument/2006/relationships/hyperlink" Target="https://www.kaggle.com/datasets/mfaisalqureshi/hr-analytics-and-job-prediction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7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18872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CSE445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Project Proposal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0388" y="3566162"/>
            <a:ext cx="97734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Presented by:</a:t>
            </a:r>
          </a:p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D4430B52-B013-EC04-4D58-9F2120B5C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96363855"/>
              </p:ext>
            </p:extLst>
          </p:nvPr>
        </p:nvGraphicFramePr>
        <p:xfrm>
          <a:off x="1112363" y="3999916"/>
          <a:ext cx="522244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2944">
                  <a:extLst>
                    <a:ext uri="{9D8B030D-6E8A-4147-A177-3AD203B41FA5}">
                      <a16:colId xmlns="" xmlns:a16="http://schemas.microsoft.com/office/drawing/2014/main" val="3975759356"/>
                    </a:ext>
                  </a:extLst>
                </a:gridCol>
                <a:gridCol w="2639505">
                  <a:extLst>
                    <a:ext uri="{9D8B030D-6E8A-4147-A177-3AD203B41FA5}">
                      <a16:colId xmlns="" xmlns:a16="http://schemas.microsoft.com/office/drawing/2014/main" val="1177046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0123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Subroto Ghosh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221215642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81579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Joy Saha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2312466042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4944682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C6D4C5C-A6D6-78B0-BAB1-0385DAEB368F}"/>
              </a:ext>
            </a:extLst>
          </p:cNvPr>
          <p:cNvSpPr txBox="1"/>
          <p:nvPr/>
        </p:nvSpPr>
        <p:spPr>
          <a:xfrm>
            <a:off x="980387" y="5112436"/>
            <a:ext cx="977344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Presented to:</a:t>
            </a:r>
          </a:p>
          <a:p>
            <a:r>
              <a:rPr lang="it-IT" b="1" dirty="0">
                <a:solidFill>
                  <a:schemeClr val="bg1"/>
                </a:solidFill>
              </a:rPr>
              <a:t>	Dr. Riasat Khan [RtK]	</a:t>
            </a:r>
          </a:p>
          <a:p>
            <a:r>
              <a:rPr lang="it-IT" b="1" dirty="0">
                <a:solidFill>
                  <a:schemeClr val="bg1"/>
                </a:solidFill>
              </a:rPr>
              <a:t>	Associate Professor, Department of </a:t>
            </a:r>
            <a:r>
              <a:rPr lang="en-US" dirty="0">
                <a:solidFill>
                  <a:schemeClr val="bg1"/>
                </a:solidFill>
              </a:rPr>
              <a:t>Electrical and Computer Engineering,</a:t>
            </a:r>
          </a:p>
          <a:p>
            <a:r>
              <a:rPr lang="en-US" dirty="0">
                <a:solidFill>
                  <a:schemeClr val="bg1"/>
                </a:solidFill>
              </a:rPr>
              <a:t>	North South University.</a:t>
            </a:r>
            <a:endParaRPr lang="it-IT" dirty="0">
              <a:solidFill>
                <a:schemeClr val="bg1"/>
              </a:solidFill>
            </a:endParaRPr>
          </a:p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endParaRPr lang="en-US" dirty="0"/>
          </a:p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7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5660" y="2651760"/>
            <a:ext cx="2817631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Project </a:t>
            </a:r>
            <a:r>
              <a:rPr lang="en-US" dirty="0"/>
              <a:t>1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7033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C8DCFC"/>
                </a:solidFill>
                <a:latin typeface="Calibri"/>
              </a:defRPr>
            </a:pPr>
            <a:r>
              <a:t>Employee Attrition Prediction using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1"/>
          <p:cNvSpPr/>
          <p:nvPr/>
        </p:nvSpPr>
        <p:spPr>
          <a:xfrm>
            <a:off x="13716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Motivation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E8F1F7"/>
          </a:solidFill>
          <a:ln/>
        </p:spPr>
      </p:sp>
      <p:sp>
        <p:nvSpPr>
          <p:cNvPr id="6" name="Shape 3"/>
          <p:cNvSpPr/>
          <p:nvPr/>
        </p:nvSpPr>
        <p:spPr>
          <a:xfrm>
            <a:off x="804672" y="1673352"/>
            <a:ext cx="548640" cy="548640"/>
          </a:xfrm>
          <a:prstGeom prst="ellipse">
            <a:avLst/>
          </a:prstGeom>
          <a:solidFill>
            <a:srgbClr val="E8935B"/>
          </a:solidFill>
          <a:ln/>
        </p:spPr>
      </p:sp>
      <p:sp>
        <p:nvSpPr>
          <p:cNvPr id="8" name="Text 4"/>
          <p:cNvSpPr/>
          <p:nvPr/>
        </p:nvSpPr>
        <p:spPr>
          <a:xfrm>
            <a:off x="1508760" y="16733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of Attrition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04672" y="2286000"/>
            <a:ext cx="4837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 skilled employee typically costs organizations 50–200% of that employee's annual salary in recruitment, onboarding, and lost productivity.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63640" y="14173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E8F1F7"/>
          </a:solidFill>
          <a:ln/>
        </p:spPr>
      </p:sp>
      <p:sp>
        <p:nvSpPr>
          <p:cNvPr id="11" name="Shape 7"/>
          <p:cNvSpPr/>
          <p:nvPr/>
        </p:nvSpPr>
        <p:spPr>
          <a:xfrm>
            <a:off x="6519672" y="1673352"/>
            <a:ext cx="548640" cy="548640"/>
          </a:xfrm>
          <a:prstGeom prst="ellipse">
            <a:avLst/>
          </a:prstGeom>
          <a:solidFill>
            <a:srgbClr val="E8935B"/>
          </a:solidFill>
          <a:ln/>
        </p:spPr>
      </p:sp>
      <p:sp>
        <p:nvSpPr>
          <p:cNvPr id="13" name="Text 8"/>
          <p:cNvSpPr/>
          <p:nvPr/>
        </p:nvSpPr>
        <p:spPr>
          <a:xfrm>
            <a:off x="7223760" y="16733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Proactive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519672" y="2286000"/>
            <a:ext cx="4837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companies rely on exit interviews — after the employee has already decided to leave — instead of identifying at-risk employees early.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7947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E8F1F7"/>
          </a:solidFill>
          <a:ln/>
        </p:spPr>
      </p:sp>
      <p:sp>
        <p:nvSpPr>
          <p:cNvPr id="16" name="Shape 11"/>
          <p:cNvSpPr/>
          <p:nvPr/>
        </p:nvSpPr>
        <p:spPr>
          <a:xfrm>
            <a:off x="804672" y="4050792"/>
            <a:ext cx="548640" cy="548640"/>
          </a:xfrm>
          <a:prstGeom prst="ellipse">
            <a:avLst/>
          </a:prstGeom>
          <a:solidFill>
            <a:srgbClr val="E8935B"/>
          </a:solidFill>
          <a:ln/>
        </p:spPr>
      </p:sp>
      <p:sp>
        <p:nvSpPr>
          <p:cNvPr id="18" name="Text 12"/>
          <p:cNvSpPr/>
          <p:nvPr/>
        </p:nvSpPr>
        <p:spPr>
          <a:xfrm>
            <a:off x="1508760" y="40507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HR Decisions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04672" y="4663440"/>
            <a:ext cx="4837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already collect rich employee data (satisfaction, workload, tenure) but rarely use it predictively to guide retention strategy.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63640" y="37947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E8F1F7"/>
          </a:solidFill>
          <a:ln/>
        </p:spPr>
      </p:sp>
      <p:sp>
        <p:nvSpPr>
          <p:cNvPr id="21" name="Shape 15"/>
          <p:cNvSpPr/>
          <p:nvPr/>
        </p:nvSpPr>
        <p:spPr>
          <a:xfrm>
            <a:off x="6519672" y="4050792"/>
            <a:ext cx="548640" cy="548640"/>
          </a:xfrm>
          <a:prstGeom prst="ellipse">
            <a:avLst/>
          </a:prstGeom>
          <a:solidFill>
            <a:srgbClr val="E8935B"/>
          </a:solidFill>
          <a:ln/>
        </p:spPr>
      </p:sp>
      <p:sp>
        <p:nvSpPr>
          <p:cNvPr id="23" name="Text 16"/>
          <p:cNvSpPr/>
          <p:nvPr/>
        </p:nvSpPr>
        <p:spPr>
          <a:xfrm>
            <a:off x="7223760" y="40507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Explainability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6519672" y="4663440"/>
            <a:ext cx="4837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prediction alone isn't actionable — managers need to know WHY an employee is at risk, which is where XAI (e.g., SHAP) adds real value.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icon_bulb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225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2121408" cy="1371600"/>
          </a:xfrm>
          <a:prstGeom prst="roundRect">
            <a:avLst>
              <a:gd name="adj" fmla="val 6667"/>
            </a:avLst>
          </a:prstGeom>
          <a:solidFill>
            <a:srgbClr val="E8F1F7"/>
          </a:solidFill>
          <a:ln/>
          <a:effectLst>
            <a:outerShdw blurRad="127000" dist="38100" dir="2700000" algn="bl" rotWithShape="0">
              <a:srgbClr val="0B335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" y="153619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21792" y="224028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98064" y="1371600"/>
            <a:ext cx="2121408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blurRad="127000" dist="38100" dir="2700000" algn="bl" rotWithShape="0">
              <a:srgbClr val="0B335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871216" y="153619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871216" y="224028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(Yes / No)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47488" y="1371600"/>
            <a:ext cx="2121408" cy="1371600"/>
          </a:xfrm>
          <a:prstGeom prst="roundRect">
            <a:avLst>
              <a:gd name="adj" fmla="val 6667"/>
            </a:avLst>
          </a:prstGeom>
          <a:solidFill>
            <a:srgbClr val="E8F1F7"/>
          </a:solidFill>
          <a:ln/>
          <a:effectLst>
            <a:outerShdw blurRad="127000" dist="38100" dir="2700000" algn="bl" rotWithShape="0">
              <a:srgbClr val="0B335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20640" y="153619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120640" y="224028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296912" y="1371600"/>
            <a:ext cx="2121408" cy="1371600"/>
          </a:xfrm>
          <a:prstGeom prst="roundRect">
            <a:avLst>
              <a:gd name="adj" fmla="val 6667"/>
            </a:avLst>
          </a:prstGeom>
          <a:solidFill>
            <a:srgbClr val="E8F1F7"/>
          </a:solidFill>
          <a:ln/>
          <a:effectLst>
            <a:outerShdw blurRad="127000" dist="38100" dir="2700000" algn="bl" rotWithShape="0">
              <a:srgbClr val="0B335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70064" y="153619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370064" y="224028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546336" y="1371600"/>
            <a:ext cx="2121408" cy="1371600"/>
          </a:xfrm>
          <a:prstGeom prst="roundRect">
            <a:avLst>
              <a:gd name="adj" fmla="val 6667"/>
            </a:avLst>
          </a:prstGeom>
          <a:solidFill>
            <a:srgbClr val="E8F1F7"/>
          </a:solidFill>
          <a:ln/>
          <a:effectLst>
            <a:outerShdw blurRad="127000" dist="38100" dir="2700000" algn="bl" rotWithShape="0">
              <a:srgbClr val="0B335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619488" y="153619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9619488" y="224028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2926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labels: Attrition = Yes (1)  or  No (0)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3383280"/>
            <a:ext cx="11064240" cy="3017520"/>
          </a:xfrm>
          <a:prstGeom prst="roundRect">
            <a:avLst>
              <a:gd name="adj" fmla="val 3636"/>
            </a:avLst>
          </a:prstGeom>
          <a:solidFill>
            <a:srgbClr val="E8F1F7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E8935B"/>
          </a:solidFill>
          <a:ln/>
        </p:spPr>
      </p:sp>
      <p:sp>
        <p:nvSpPr>
          <p:cNvPr id="24" name="Text 20"/>
          <p:cNvSpPr/>
          <p:nvPr/>
        </p:nvSpPr>
        <p:spPr>
          <a:xfrm>
            <a:off x="1371600" y="35844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Features Used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868680" y="4114800"/>
            <a:ext cx="10424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BusinessTravel, DailyRate, Department, DistanceFromHome, Education, EducationField, EnvironmentSatisfaction, Gender, HourlyRate, JobInvolvement, JobLevel, JobRole, JobSatisfaction, MaritalStatus, MonthlyIncome, MonthlyRate, NumCompaniesWorked, OverTime, PercentSalaryHike, PerformanceRating, RelationshipSatisfaction, StockOptionLevel, TotalWorkingYears, TrainingTimesLastYear, WorkLifeBalance, YearsAtCompany, YearsInCurrentRole, YearsSinceLastPromotion, YearsWithCurrManager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68680" y="605332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27" name="Image 1" descr="/home/claude/ppt_build/icons/brain_white.png">
            <a:extLst>
              <a:ext uri="{FF2B5EF4-FFF2-40B4-BE49-F238E27FC236}">
                <a16:creationId xmlns="" xmlns:a16="http://schemas.microsoft.com/office/drawing/2014/main" id="{1CFC6BE1-F6E0-5DAF-1674-92FD205A8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53" y="3645016"/>
            <a:ext cx="289403" cy="2894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icon_database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2259" y="56509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Datasets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B335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64592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E8935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6459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203911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Employee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&amp; Performance Dataset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27157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  |   Accessed: 07/07/2026</a:t>
            </a:r>
            <a:endParaRPr lang="en-US" sz="1100" dirty="0"/>
          </a:p>
        </p:txBody>
      </p:sp>
      <p:sp>
        <p:nvSpPr>
          <p:cNvPr id="10" name="Text 7">
            <a:hlinkClick r:id="" action="ppaction://noaction"/>
          </p:cNvPr>
          <p:cNvSpPr/>
          <p:nvPr/>
        </p:nvSpPr>
        <p:spPr>
          <a:xfrm>
            <a:off x="822960" y="299008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kaggle.com/datasets/pavansubhasht/ibm-hr-analytics-attrition-dataset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4173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B335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164592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16459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/ VALIDATION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37960" y="203911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Employee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Dataset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537960" y="27157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  |   Accessed: 07/07/2026</a:t>
            </a:r>
            <a:endParaRPr lang="en-US" sz="1100" dirty="0"/>
          </a:p>
        </p:txBody>
      </p:sp>
      <p:sp>
        <p:nvSpPr>
          <p:cNvPr id="16" name="Text 13">
            <a:hlinkClick r:id="" action="ppaction://noaction"/>
          </p:cNvPr>
          <p:cNvSpPr/>
          <p:nvPr/>
        </p:nvSpPr>
        <p:spPr>
          <a:xfrm>
            <a:off x="6537960" y="299008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kaggle.com/datasets/giripujar/hr-analytics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datasets derive from the original IBM Watson Analytics HR dataset.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E8935B"/>
          </a:solidFill>
          <a:ln/>
        </p:spPr>
      </p:sp>
      <p:pic>
        <p:nvPicPr>
          <p:cNvPr id="19" name="Image 1" descr="icon_layers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8368" y="4133088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43000" y="40416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Features  —  Sample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548640" y="4617720"/>
          <a:ext cx="11064240" cy="1691640"/>
        </p:xfrm>
        <a:graphic>
          <a:graphicData uri="http://schemas.openxmlformats.org/drawingml/2006/table">
            <a:tbl>
              <a:tblPr/>
              <a:tblGrid>
                <a:gridCol w="36850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68503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9417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MonthlyIncome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JobSatisfaction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YearsAtCompany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WorkLifeBalance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TotalWorkingYears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StockOptionLevel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+ 26 more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93787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3787"/>
                </a:solidFill>
                <a:latin typeface="Calibri"/>
              </a:defRPr>
            </a:pPr>
            <a:r>
              <a:t>IBM HR Analytics Employee Attrition &amp; Performance</a:t>
            </a:r>
          </a:p>
          <a:p>
            <a:pPr>
              <a:spcAft>
                <a:spcPts val="1200"/>
              </a:spcAft>
              <a:defRPr sz="1300">
                <a:solidFill>
                  <a:srgbClr val="646464"/>
                </a:solidFill>
                <a:latin typeface="Calibri"/>
              </a:defRPr>
            </a:pPr>
            <a:r>
              <a:t>Source: Kaggle  |  URL: kaggle.com/datasets/pavansubhasht/ibm-hr-analytics-attrition-dataset</a:t>
            </a:r>
          </a:p>
          <a:p>
            <a:pPr>
              <a:spcAft>
                <a:spcPts val="600"/>
              </a:spcAft>
              <a:defRPr sz="1500" b="1">
                <a:solidFill>
                  <a:srgbClr val="193787"/>
                </a:solidFill>
                <a:latin typeface="Calibri"/>
              </a:defRPr>
            </a:pPr>
            <a:r>
              <a:t>Dataset Statistics: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 Total Samples: 1,470 employee records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 Target Classes: 2 (Attrition: Yes / No)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 Features: 34 predictive attributes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 Class Distribution: Balanced dataset with both attrition and retention cases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1500" b="1">
                <a:solidFill>
                  <a:srgbClr val="193787"/>
                </a:solidFill>
                <a:latin typeface="Calibri"/>
              </a:defRPr>
            </a:pPr>
            <a:r>
              <a:t>Key Features Included: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 Demographic: Age, Gender, Marital Status, Department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 Professional: Job Role, Job Level, Years at Company, Tenure in Role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 Compensation: Monthly Income, Hourly Rate, Salary Hike (%)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 Engagement: Job Satisfaction, Work-Life Balance, Environment Satisfaction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  <a:latin typeface="Calibri"/>
              </a:defRPr>
            </a:pPr>
            <a:r>
              <a:t>•  Performance: Performance Rating, Training Times, Stock Options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1"/>
          <p:cNvSpPr/>
          <p:nvPr/>
        </p:nvSpPr>
        <p:spPr>
          <a:xfrm>
            <a:off x="1371600" y="365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Recent Studies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34924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B335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64592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E8935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645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920240" y="16459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MDPI – Systems Journal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214884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Employee Attrition: XAI-Powered Models for Managerial Decision-Making</a:t>
            </a:r>
            <a:endParaRPr lang="en-US" sz="1650" dirty="0"/>
          </a:p>
        </p:txBody>
      </p:sp>
      <p:sp>
        <p:nvSpPr>
          <p:cNvPr id="10" name="Text 7">
            <a:hlinkClick r:id="" action="ppaction://noaction"/>
          </p:cNvPr>
          <p:cNvSpPr/>
          <p:nvPr/>
        </p:nvSpPr>
        <p:spPr>
          <a:xfrm>
            <a:off x="822960" y="34290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mdpi.com/2079-8954/13/7/583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2960" y="4069080"/>
            <a:ext cx="4800600" cy="9144"/>
          </a:xfrm>
          <a:prstGeom prst="rect">
            <a:avLst/>
          </a:prstGeom>
          <a:solidFill>
            <a:srgbClr val="E8F1F7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2062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4553712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SHAP explainability with multiple ML classifiers, giving managers transparent, actionable insight into why an employee is at risk of leaving.</a:t>
            </a:r>
            <a:b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https://www.kaggle.com/datasets/mfaisalqureshi/hr-analytics-and-job-prediction</a:t>
            </a: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1371600"/>
            <a:ext cx="534924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B335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37960" y="164592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E8935B"/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1645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635240" y="16459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– Scientific Reports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537960" y="214884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Machine Learning and Explainable AI for Employee Attrition Prediction in HR Analytics</a:t>
            </a:r>
            <a:endParaRPr lang="en-US" sz="1650" dirty="0"/>
          </a:p>
        </p:txBody>
      </p:sp>
      <p:sp>
        <p:nvSpPr>
          <p:cNvPr id="19" name="Text 16">
            <a:hlinkClick r:id="" action="ppaction://noaction"/>
          </p:cNvPr>
          <p:cNvSpPr/>
          <p:nvPr/>
        </p:nvSpPr>
        <p:spPr>
          <a:xfrm>
            <a:off x="6537960" y="34290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nature.com/articles/s41598-026-36424-2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537960" y="4069080"/>
            <a:ext cx="4800600" cy="9144"/>
          </a:xfrm>
          <a:prstGeom prst="rect">
            <a:avLst/>
          </a:prstGeom>
          <a:solidFill>
            <a:srgbClr val="E8F1F7"/>
          </a:solidFill>
          <a:ln w="12700">
            <a:solidFill>
              <a:srgbClr val="E8F1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37960" y="42062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37960" y="4553712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 full pipeline (preprocessing, class-imbalance handling, feature selection, SHAP) evaluated on the IBM HR dataset and a second HR job-change dataset.</a:t>
            </a:r>
            <a:b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https://www.kaggle.com/datasets/arashnic/hr-analytics-job-change-of-data-scientists</a:t>
            </a: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</p:txBody>
      </p:sp>
      <p:pic>
        <p:nvPicPr>
          <p:cNvPr id="3" name="Image 0" descr="/home/claude/ppt_build/icons/book_gold.png">
            <a:extLst>
              <a:ext uri="{FF2B5EF4-FFF2-40B4-BE49-F238E27FC236}">
                <a16:creationId xmlns="" xmlns:a16="http://schemas.microsoft.com/office/drawing/2014/main" id="{20A939CF-F0F7-D162-270C-EC149AA91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589788"/>
            <a:ext cx="393192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68730" y="-2057400"/>
            <a:ext cx="5486400" cy="5486400"/>
          </a:xfrm>
          <a:prstGeom prst="ellipse">
            <a:avLst/>
          </a:prstGeom>
          <a:solidFill>
            <a:srgbClr val="1630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5029200" cy="5029200"/>
          </a:xfrm>
          <a:prstGeom prst="ellipse">
            <a:avLst/>
          </a:prstGeom>
          <a:solidFill>
            <a:srgbClr val="16305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94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/home/claude/ppt_build/icons/question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734" y="3131820"/>
            <a:ext cx="777240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962400" y="28803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Thank You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Questions &amp; Discussion Welcome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0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CSE445 · Automated Bangla Fake News Detection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528</Words>
  <Application>Microsoft Office PowerPoint</Application>
  <PresentationFormat>Custom</PresentationFormat>
  <Paragraphs>91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SUBROTO GHOSH</dc:creator>
  <dc:description>generated using python-pptx</dc:description>
  <cp:lastModifiedBy>SUBROTO GHOSH</cp:lastModifiedBy>
  <cp:revision>6</cp:revision>
  <dcterms:created xsi:type="dcterms:W3CDTF">2013-01-27T09:14:16Z</dcterms:created>
  <dcterms:modified xsi:type="dcterms:W3CDTF">2026-09-14T17:11:23Z</dcterms:modified>
</cp:coreProperties>
</file>